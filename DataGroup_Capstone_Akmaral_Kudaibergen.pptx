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59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06-0F1F-4B47-961F-232D44B60C1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E623C-5D96-43EA-B183-23E37AD4BE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867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b="1" dirty="0"/>
              <a:t>Топ-3 триггера негатива:</a:t>
            </a:r>
            <a:endParaRPr lang="ru-RU" dirty="0"/>
          </a:p>
          <a:p>
            <a:pPr lvl="1"/>
            <a:r>
              <a:rPr lang="en-US" noProof="0" dirty="0"/>
              <a:t>delivery_delay_days </a:t>
            </a:r>
            <a:r>
              <a:rPr lang="ru-RU" dirty="0"/>
              <a:t>(задержка доставки относительно обещанной даты).</a:t>
            </a:r>
          </a:p>
          <a:p>
            <a:pPr lvl="1"/>
            <a:r>
              <a:rPr lang="en-US" noProof="0" dirty="0"/>
              <a:t>actual_delivery_days </a:t>
            </a:r>
            <a:r>
              <a:rPr lang="ru-RU" dirty="0"/>
              <a:t>(общее время ожидания).</a:t>
            </a:r>
          </a:p>
          <a:p>
            <a:pPr lvl="1"/>
            <a:r>
              <a:rPr lang="en-US" noProof="0" dirty="0"/>
              <a:t>total_freight_value </a:t>
            </a:r>
            <a:r>
              <a:rPr lang="ru-RU" dirty="0"/>
              <a:t>(стоимость доставки).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E623C-5D96-43EA-B183-23E37AD4BE9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296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276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8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947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524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раздела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956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078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712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2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53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45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549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357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598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546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871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400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081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8517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216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864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01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39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7757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49762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312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650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165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946734-DA06-4136-7E9B-2B17BCAA4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68FE9F-8C83-FFFF-1324-9CF26A328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055629-D877-4C76-333E-AF234162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C1EFC9-403E-F925-7E7A-D206954C8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8D1B2A-5F26-5445-68BD-0B7C9961D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7006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B76052A2-696D-471D-BA8E-C1ACFC645BDA}" type="datetimeFigureOut">
              <a:rPr lang="ru-RU" smtClean="0"/>
              <a:t>28.09.2026</a:t>
            </a:fld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A96BFBDE-3A09-4B21-909F-98B0608AC34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32861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maral1999/datagroup.kz-olist-capstone-project.git" TargetMode="Externa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olistbr/brazilian-ecommerc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DD428-71F0-9553-A8AE-40878E97AC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Предсказание низких оценок заказов на маркетплейсе </a:t>
            </a:r>
            <a:r>
              <a:rPr lang="en-US" noProof="0" dirty="0"/>
              <a:t>Olist</a:t>
            </a:r>
            <a:r>
              <a:rPr lang="ru-RU" dirty="0"/>
              <a:t>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7DEF31-62EA-1672-64FC-9FFB8D7AC2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Capstone Project (</a:t>
            </a:r>
            <a:r>
              <a:rPr lang="ru-RU" noProof="0" dirty="0"/>
              <a:t>3 поток </a:t>
            </a:r>
            <a:r>
              <a:rPr lang="en-US" noProof="0" dirty="0"/>
              <a:t>Data Science</a:t>
            </a:r>
            <a:r>
              <a:rPr lang="ru-RU" noProof="0" dirty="0"/>
              <a:t> в </a:t>
            </a:r>
            <a:r>
              <a:rPr lang="en-US" noProof="0" dirty="0"/>
              <a:t>DataGroup.kz).</a:t>
            </a:r>
            <a:endParaRPr lang="en-US" b="1" noProof="0" dirty="0"/>
          </a:p>
          <a:p>
            <a:r>
              <a:rPr lang="ru-RU" b="1" dirty="0"/>
              <a:t>Спикер:</a:t>
            </a:r>
            <a:r>
              <a:rPr lang="ru-RU" dirty="0"/>
              <a:t> </a:t>
            </a:r>
            <a:r>
              <a:rPr lang="kk-KZ" noProof="0" dirty="0"/>
              <a:t>Акмарал</a:t>
            </a:r>
            <a:r>
              <a:rPr lang="ru-RU" dirty="0"/>
              <a:t> </a:t>
            </a:r>
            <a:r>
              <a:rPr lang="kk-KZ" noProof="0" dirty="0"/>
              <a:t>Кудайберген</a:t>
            </a:r>
            <a:r>
              <a:rPr lang="ru-RU" dirty="0"/>
              <a:t>. </a:t>
            </a:r>
            <a:r>
              <a:rPr lang="ru-RU" dirty="0">
                <a:hlinkClick r:id="rId2"/>
              </a:rPr>
              <a:t>Ссылка на репозиторий в </a:t>
            </a:r>
            <a:r>
              <a:rPr lang="en-US" dirty="0">
                <a:hlinkClick r:id="rId2"/>
              </a:rPr>
              <a:t>GitHub.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084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948D9-ED9B-EFB0-CCAA-2CED6533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Бизнес-проблема и Цель проекта</a:t>
            </a:r>
            <a:r>
              <a:rPr lang="kk-KZ" dirty="0"/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6EF413-C119-2EAC-55B2-ECEDA54B2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b="1" dirty="0"/>
              <a:t>Контекст:</a:t>
            </a:r>
            <a:r>
              <a:rPr lang="ru-RU" dirty="0"/>
              <a:t> Оценки 1-2 звезды ведут к оттоку клиентов и падению репутации платформы.</a:t>
            </a:r>
          </a:p>
          <a:p>
            <a:pPr lvl="0"/>
            <a:r>
              <a:rPr lang="ru-RU" b="1" dirty="0"/>
              <a:t>Цель:</a:t>
            </a:r>
            <a:r>
              <a:rPr lang="ru-RU" dirty="0"/>
              <a:t> Построить модель машинного обучения, которая предсказывает вероятность негативного отзыва </a:t>
            </a:r>
            <a:r>
              <a:rPr lang="ru-RU" i="1" dirty="0"/>
              <a:t>до</a:t>
            </a:r>
            <a:r>
              <a:rPr lang="ru-RU" dirty="0"/>
              <a:t> того, как клиент его оставит, чтобы бизнес мог проактивно решать проблему.</a:t>
            </a:r>
          </a:p>
          <a:p>
            <a:pPr lvl="0"/>
            <a:r>
              <a:rPr lang="ru-RU" b="1" dirty="0"/>
              <a:t>Задача:</a:t>
            </a:r>
            <a:r>
              <a:rPr lang="ru-RU" dirty="0"/>
              <a:t> Бинарная классификация (0 — хороший/нейтральный отзыв, 1 — плохой отзыв).</a:t>
            </a:r>
          </a:p>
        </p:txBody>
      </p:sp>
    </p:spTree>
    <p:extLst>
      <p:ext uri="{BB962C8B-B14F-4D97-AF65-F5344CB8AC3E}">
        <p14:creationId xmlns:p14="http://schemas.microsoft.com/office/powerpoint/2010/main" val="59991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13881-5B1D-9BCF-9FE1-582BE44F8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и Архитектура (SQL)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ACAA3F-83AA-49A7-81ED-9EA3A60A8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b="1" dirty="0"/>
              <a:t>Источник:</a:t>
            </a:r>
            <a:r>
              <a:rPr lang="ru-RU" dirty="0"/>
              <a:t> </a:t>
            </a:r>
            <a:r>
              <a:rPr lang="en-US" noProof="0" dirty="0"/>
              <a:t>Brazilian E-Commerce Public Dataset by Olist (</a:t>
            </a:r>
            <a:r>
              <a:rPr lang="en-US" noProof="0" dirty="0">
                <a:hlinkClick r:id="rId2"/>
              </a:rPr>
              <a:t>Kaggle</a:t>
            </a:r>
            <a:r>
              <a:rPr lang="en-US" noProof="0" dirty="0"/>
              <a:t>).</a:t>
            </a:r>
            <a:endParaRPr lang="ru-RU" dirty="0"/>
          </a:p>
          <a:p>
            <a:pPr lvl="0"/>
            <a:r>
              <a:rPr lang="ru-RU" b="1" dirty="0"/>
              <a:t>Подготовка данных:</a:t>
            </a:r>
            <a:r>
              <a:rPr lang="ru-RU" dirty="0"/>
              <a:t> Исходно 9 отдельных таблиц.</a:t>
            </a:r>
          </a:p>
          <a:p>
            <a:pPr lvl="0"/>
            <a:r>
              <a:rPr lang="ru-RU" b="1" dirty="0"/>
              <a:t>Решение:</a:t>
            </a:r>
            <a:r>
              <a:rPr lang="ru-RU" dirty="0"/>
              <a:t> Использование </a:t>
            </a:r>
            <a:r>
              <a:rPr lang="en-US" noProof="0" dirty="0"/>
              <a:t>PostgreSQL</a:t>
            </a:r>
            <a:r>
              <a:rPr lang="ru-RU" dirty="0"/>
              <a:t> (</a:t>
            </a:r>
            <a:r>
              <a:rPr lang="en-US" dirty="0"/>
              <a:t>JOIN, </a:t>
            </a:r>
            <a:r>
              <a:rPr lang="en-US" noProof="0" dirty="0"/>
              <a:t>CTEs</a:t>
            </a:r>
            <a:r>
              <a:rPr lang="ru-RU" dirty="0"/>
              <a:t>, оконные функции, агрегации) для сборки единой аналитической витрины данных (95+ тыс. строк).</a:t>
            </a:r>
          </a:p>
          <a:p>
            <a:pPr lvl="0"/>
            <a:r>
              <a:rPr lang="ru-RU" b="1" dirty="0"/>
              <a:t>Визуал:</a:t>
            </a:r>
            <a:r>
              <a:rPr lang="ru-RU" dirty="0"/>
              <a:t> Можно вставить скриншот схемы БД (из файла olist_db_schema.png).</a:t>
            </a:r>
          </a:p>
        </p:txBody>
      </p:sp>
    </p:spTree>
    <p:extLst>
      <p:ext uri="{BB962C8B-B14F-4D97-AF65-F5344CB8AC3E}">
        <p14:creationId xmlns:p14="http://schemas.microsoft.com/office/powerpoint/2010/main" val="361409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7A3FD981-5014-67AD-5298-2B9BF1226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315" y="134587"/>
            <a:ext cx="6639370" cy="672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331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971C4-A84D-8577-6A38-6F56101A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Инсайты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из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данных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(EDA).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B345E8-927D-31D8-7BA5-931FE01BD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pPr lvl="0"/>
            <a:r>
              <a:rPr lang="ru-RU" sz="2000" b="0" dirty="0"/>
              <a:t>Проблема дисбаланса: Показать график распределения целевой переменной (около 13% — плохие отзывы, 87% — хорошие). Поэтому </a:t>
            </a:r>
            <a:r>
              <a:rPr lang="en-US" sz="2000" b="0" noProof="0" dirty="0"/>
              <a:t>Accuracy</a:t>
            </a:r>
            <a:r>
              <a:rPr lang="ru-RU" sz="2000" b="0" dirty="0"/>
              <a:t> не </a:t>
            </a:r>
            <a:r>
              <a:rPr lang="ru-RU" sz="2000" b="0" noProof="0" dirty="0"/>
              <a:t>будет</a:t>
            </a:r>
            <a:r>
              <a:rPr lang="ru-RU" sz="2000" b="0" dirty="0"/>
              <a:t> </a:t>
            </a:r>
            <a:r>
              <a:rPr lang="ru-RU" sz="2000" b="0" noProof="0" dirty="0"/>
              <a:t>использоваться</a:t>
            </a:r>
            <a:r>
              <a:rPr lang="ru-RU" sz="2000" b="0" dirty="0"/>
              <a:t>.</a:t>
            </a:r>
          </a:p>
        </p:txBody>
      </p:sp>
      <p:pic>
        <p:nvPicPr>
          <p:cNvPr id="34" name="Объект 33">
            <a:extLst>
              <a:ext uri="{FF2B5EF4-FFF2-40B4-BE49-F238E27FC236}">
                <a16:creationId xmlns:a16="http://schemas.microsoft.com/office/drawing/2014/main" id="{2896BEFA-7182-8361-1461-CF8DCB60BD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2534874"/>
            <a:ext cx="5349875" cy="3526565"/>
          </a:xfrm>
          <a:prstGeom prst="rect">
            <a:avLst/>
          </a:prstGeom>
        </p:spPr>
      </p:pic>
      <p:sp>
        <p:nvSpPr>
          <p:cNvPr id="20" name="Текст 19">
            <a:extLst>
              <a:ext uri="{FF2B5EF4-FFF2-40B4-BE49-F238E27FC236}">
                <a16:creationId xmlns:a16="http://schemas.microsoft.com/office/drawing/2014/main" id="{0E782949-978B-6237-3B6C-1AC95E38C9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b="0" noProof="0" dirty="0"/>
              <a:t>Главный</a:t>
            </a:r>
            <a:r>
              <a:rPr lang="en-US" b="0" dirty="0"/>
              <a:t> </a:t>
            </a:r>
            <a:r>
              <a:rPr lang="ru-RU" b="0" noProof="0" dirty="0"/>
              <a:t>инсайт</a:t>
            </a:r>
            <a:r>
              <a:rPr lang="en-US" b="0" dirty="0"/>
              <a:t>: График зависимости </a:t>
            </a:r>
            <a:r>
              <a:rPr lang="ru-RU" b="0" noProof="0" dirty="0"/>
              <a:t>оценки</a:t>
            </a:r>
            <a:r>
              <a:rPr lang="en-US" b="0" dirty="0"/>
              <a:t> от </a:t>
            </a:r>
            <a:r>
              <a:rPr lang="ru-RU" b="0" noProof="0" dirty="0"/>
              <a:t>времени</a:t>
            </a:r>
            <a:r>
              <a:rPr lang="en-US" b="0" dirty="0"/>
              <a:t> доставки</a:t>
            </a:r>
            <a:r>
              <a:rPr lang="ru-RU" b="0" dirty="0"/>
              <a:t>.</a:t>
            </a:r>
            <a:endParaRPr lang="en-US" b="0" dirty="0"/>
          </a:p>
        </p:txBody>
      </p:sp>
      <p:pic>
        <p:nvPicPr>
          <p:cNvPr id="36" name="Объект 35">
            <a:extLst>
              <a:ext uri="{FF2B5EF4-FFF2-40B4-BE49-F238E27FC236}">
                <a16:creationId xmlns:a16="http://schemas.microsoft.com/office/drawing/2014/main" id="{8DE8AF69-5A38-64C4-B0D1-56E7A19A47A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588" y="2558334"/>
            <a:ext cx="5349875" cy="347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5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3D6D5-FC30-32DB-44A4-21B4540C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 к Машинному обучению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EA2E8-214E-2A91-B608-0FB443AED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b="1" dirty="0"/>
              <a:t>Модели:</a:t>
            </a:r>
            <a:r>
              <a:rPr lang="ru-RU" dirty="0"/>
              <a:t> </a:t>
            </a:r>
            <a:r>
              <a:rPr lang="en-US" noProof="0" dirty="0"/>
              <a:t>Logistic Regression</a:t>
            </a:r>
            <a:r>
              <a:rPr lang="ru-RU" dirty="0"/>
              <a:t> (как </a:t>
            </a:r>
            <a:r>
              <a:rPr lang="en-US" noProof="0" dirty="0"/>
              <a:t>baseline</a:t>
            </a:r>
            <a:r>
              <a:rPr lang="ru-RU" dirty="0"/>
              <a:t>) и </a:t>
            </a:r>
            <a:r>
              <a:rPr lang="en-US" noProof="0" dirty="0"/>
              <a:t>Random Forest</a:t>
            </a:r>
            <a:r>
              <a:rPr lang="ru-RU" dirty="0"/>
              <a:t>.</a:t>
            </a:r>
          </a:p>
          <a:p>
            <a:pPr lvl="0"/>
            <a:r>
              <a:rPr lang="ru-RU" b="1" dirty="0"/>
              <a:t>Особенности обучения:</a:t>
            </a:r>
            <a:endParaRPr lang="ru-RU" dirty="0"/>
          </a:p>
          <a:p>
            <a:pPr lvl="1"/>
            <a:r>
              <a:rPr lang="ru-RU" dirty="0"/>
              <a:t>Обработка пропусков и категориальных признаков (</a:t>
            </a:r>
            <a:r>
              <a:rPr lang="en-US" noProof="0" dirty="0"/>
              <a:t>OneHotEncoder, Pipeline</a:t>
            </a:r>
            <a:r>
              <a:rPr lang="ru-RU" dirty="0"/>
              <a:t>).</a:t>
            </a:r>
          </a:p>
          <a:p>
            <a:pPr lvl="1"/>
            <a:r>
              <a:rPr lang="ru-RU" b="1" dirty="0"/>
              <a:t>Ключевой момент:</a:t>
            </a:r>
            <a:r>
              <a:rPr lang="ru-RU" dirty="0"/>
              <a:t> Использование </a:t>
            </a:r>
            <a:r>
              <a:rPr lang="en-US" noProof="0" dirty="0"/>
              <a:t>class_weight='balanced' </a:t>
            </a:r>
            <a:r>
              <a:rPr lang="ru-RU" dirty="0"/>
              <a:t>для борьбы с дисбалансом классов, чтобы модель не игнорировала недовольных клиентов.</a:t>
            </a:r>
          </a:p>
          <a:p>
            <a:pPr lvl="0"/>
            <a:r>
              <a:rPr lang="ru-RU" b="1" dirty="0"/>
              <a:t>Метрики:</a:t>
            </a:r>
            <a:r>
              <a:rPr lang="ru-RU" dirty="0"/>
              <a:t> Отказ от </a:t>
            </a:r>
            <a:r>
              <a:rPr lang="en-US" noProof="0" dirty="0"/>
              <a:t>Accuracy</a:t>
            </a:r>
            <a:r>
              <a:rPr lang="ru-RU" dirty="0"/>
              <a:t> в пользу ROC-AUC и F1-score (для миноритарного класса). </a:t>
            </a:r>
          </a:p>
          <a:p>
            <a:pPr lvl="0"/>
            <a:r>
              <a:rPr lang="en-US" noProof="0" dirty="0">
                <a:latin typeface="Trade Gothic Next Light (Основной текст)"/>
              </a:rPr>
              <a:t>Logistic Regression</a:t>
            </a:r>
            <a:r>
              <a:rPr lang="ru-RU" dirty="0">
                <a:latin typeface="Trade Gothic Next Light (Основной текст)"/>
              </a:rPr>
              <a:t>: Precision (класс 1 - плохой отзыв): 0.26 </a:t>
            </a:r>
            <a:r>
              <a:rPr lang="en-US" noProof="0" dirty="0">
                <a:latin typeface="Trade Gothic Next Light (Основной текст)"/>
              </a:rPr>
              <a:t>Recall</a:t>
            </a:r>
            <a:r>
              <a:rPr lang="ru-RU" dirty="0">
                <a:latin typeface="Trade Gothic Next Light (Основной текст)"/>
              </a:rPr>
              <a:t> (класс 1 - плохой отзыв): 0.55 F1-score (класс 1 - плохой отзыв): 0.36 ROC-AUC: 0.72.</a:t>
            </a:r>
          </a:p>
          <a:p>
            <a:pPr lvl="0"/>
            <a:r>
              <a:rPr lang="en-US" noProof="0" dirty="0">
                <a:highlight>
                  <a:srgbClr val="00FF00"/>
                </a:highlight>
                <a:latin typeface="Trade Gothic Next Light (Основной текст)"/>
              </a:rPr>
              <a:t>Random Forest</a:t>
            </a:r>
            <a:r>
              <a:rPr lang="ru-RU" dirty="0">
                <a:highlight>
                  <a:srgbClr val="00FF00"/>
                </a:highlight>
                <a:latin typeface="Trade Gothic Next Light (Основной текст)"/>
              </a:rPr>
              <a:t>: Precision (класс 1 - плохой отзыв): 0.34 </a:t>
            </a:r>
            <a:r>
              <a:rPr lang="en-US" noProof="0" dirty="0">
                <a:highlight>
                  <a:srgbClr val="00FF00"/>
                </a:highlight>
                <a:latin typeface="Trade Gothic Next Light (Основной текст)"/>
              </a:rPr>
              <a:t>Recall</a:t>
            </a:r>
            <a:r>
              <a:rPr lang="ru-RU" dirty="0">
                <a:highlight>
                  <a:srgbClr val="00FF00"/>
                </a:highlight>
                <a:latin typeface="Trade Gothic Next Light (Основной текст)"/>
              </a:rPr>
              <a:t> (класс 1 - плохой отзыв): 0.50 F1-score (класс 1 - плохой отзыв): 0.40 ROC-AUC: 0.74. Победитель!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4664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25996A0-044D-D486-12A8-7E32BC395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29995"/>
            <a:ext cx="10905066" cy="53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176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4A96B-2CE2-CB91-5537-63696B3F4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6AE48B-0A18-EE77-B344-6878C5647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b="1" dirty="0"/>
              <a:t>Управление ожиданиями:</a:t>
            </a:r>
            <a:r>
              <a:rPr lang="ru-RU" dirty="0"/>
              <a:t> Алгоритмам </a:t>
            </a:r>
            <a:r>
              <a:rPr lang="en-US" noProof="0" dirty="0"/>
              <a:t>Olist</a:t>
            </a:r>
            <a:r>
              <a:rPr lang="ru-RU" dirty="0"/>
              <a:t> стоит закладывать чуть больше времени в </a:t>
            </a:r>
            <a:r>
              <a:rPr lang="en-US" noProof="0" dirty="0" err="1"/>
              <a:t>estimated_delivery_days</a:t>
            </a:r>
            <a:r>
              <a:rPr lang="ru-RU" dirty="0"/>
              <a:t>, чтобы снизить процент "опозданий". Лучше привезти раньше обещанного, чем позже.</a:t>
            </a:r>
          </a:p>
          <a:p>
            <a:pPr lvl="0"/>
            <a:r>
              <a:rPr lang="ru-RU" b="1" dirty="0"/>
              <a:t>Оптимизация логистики:</a:t>
            </a:r>
            <a:r>
              <a:rPr lang="ru-RU" dirty="0"/>
              <a:t> Мониторинг продавцов и транспортных компаний с высокими тарифами (</a:t>
            </a:r>
            <a:r>
              <a:rPr lang="en-US" noProof="0" dirty="0" err="1"/>
              <a:t>freight_value</a:t>
            </a:r>
            <a:r>
              <a:rPr lang="ru-RU" dirty="0"/>
              <a:t>) и долгими сроками, так как они генерируют основной негатив.</a:t>
            </a:r>
          </a:p>
          <a:p>
            <a:pPr lvl="0"/>
            <a:r>
              <a:rPr lang="ru-RU" b="1" dirty="0"/>
              <a:t>Проактивная работа:</a:t>
            </a:r>
            <a:r>
              <a:rPr lang="ru-RU" dirty="0"/>
              <a:t> Использовать созданную ML-модель для выявления "заказов в зоне риска" и автоматической отправки извинений/промокодов клиентам </a:t>
            </a:r>
            <a:r>
              <a:rPr lang="ru-RU" i="1" dirty="0"/>
              <a:t>до</a:t>
            </a:r>
            <a:r>
              <a:rPr lang="ru-RU" dirty="0"/>
              <a:t> того, как они напишут гневный отзыв.</a:t>
            </a:r>
          </a:p>
        </p:txBody>
      </p:sp>
    </p:spTree>
    <p:extLst>
      <p:ext uri="{BB962C8B-B14F-4D97-AF65-F5344CB8AC3E}">
        <p14:creationId xmlns:p14="http://schemas.microsoft.com/office/powerpoint/2010/main" val="3242313350"/>
      </p:ext>
    </p:extLst>
  </p:cSld>
  <p:clrMapOvr>
    <a:masterClrMapping/>
  </p:clrMapOvr>
</p:sld>
</file>

<file path=ppt/theme/theme1.xml><?xml version="1.0" encoding="utf-8"?>
<a:theme xmlns:a="http://schemas.openxmlformats.org/drawingml/2006/main" name="Редакционный">
  <a:themeElements>
    <a:clrScheme name="Редакционный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51</TotalTime>
  <Words>469</Words>
  <Application>Microsoft Office PowerPoint</Application>
  <PresentationFormat>Широкоэкранный</PresentationFormat>
  <Paragraphs>32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Aptos</vt:lpstr>
      <vt:lpstr>Arial</vt:lpstr>
      <vt:lpstr>Haettenschweiler</vt:lpstr>
      <vt:lpstr>Trade Gothic Next Light</vt:lpstr>
      <vt:lpstr>Trade Gothic Next Light (Основной текст)</vt:lpstr>
      <vt:lpstr>Редакционный</vt:lpstr>
      <vt:lpstr>Предсказание низких оценок заказов на маркетплейсе Olist.</vt:lpstr>
      <vt:lpstr>Бизнес-проблема и Цель проекта.</vt:lpstr>
      <vt:lpstr>Данные и Архитектура (SQL)</vt:lpstr>
      <vt:lpstr>Презентация PowerPoint</vt:lpstr>
      <vt:lpstr>Инсайты из данных (EDA).</vt:lpstr>
      <vt:lpstr>Подход к Машинному обучению</vt:lpstr>
      <vt:lpstr>Презентация PowerPoint</vt:lpstr>
      <vt:lpstr>Бизнес-рекомендации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Akmaral Kudaibergen</dc:creator>
  <cp:lastModifiedBy>Akmaral Kudaibergen</cp:lastModifiedBy>
  <cp:revision>2</cp:revision>
  <dcterms:created xsi:type="dcterms:W3CDTF">2026-09-28T18:01:29Z</dcterms:created>
  <dcterms:modified xsi:type="dcterms:W3CDTF">2026-09-28T18:52:38Z</dcterms:modified>
</cp:coreProperties>
</file>